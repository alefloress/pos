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8288000" cy="10287000"/>
  <p:notesSz cx="6858000" cy="9144000"/>
  <p:embeddedFontLst>
    <p:embeddedFont>
      <p:font typeface="Garet" panose="020B0604020202020204" charset="0"/>
      <p:regular r:id="rId18"/>
    </p:embeddedFont>
    <p:embeddedFont>
      <p:font typeface="Horizon" panose="020B0604020202020204" charset="0"/>
      <p:regular r:id="rId19"/>
    </p:embeddedFont>
    <p:embeddedFont>
      <p:font typeface="Open Sans" panose="020B0606030504020204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12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ermaidchart.com/app/projects/fa1dc4cb-7527-4c34-99ab-1dc74a511973/diagrams/e8f5b5ee-da28-4531-854f-f80e28f8930d/share/invite/eyJhbGciOiJIUzI1NiIsInR5cCI6IkpXVCJ9.eyJkb2N1bWVudElEIjoiZThmNWI1ZWUtZGEyOC00NTMxLTg1NGYtZjgwZTI4Zjg5MzBkIiwiYWNjZXNzIjoiRWRpdCIsImlhdCI6MTc2MzYwNzA2MX0.gKAUcKvrmMhLJ3nmEhFaKtzhmq_WekkDj-bktVzlgTs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ermaidchart.com/app/projects/fa1dc4cb-7527-4c34-99ab-1dc74a511973/diagrams/3dc0613c-31cf-46f6-825d-7a3c7ead057a/share/invite/eyJhbGciOiJIUzI1NiIsInR5cCI6IkpXVCJ9.eyJkb2N1bWVudElEIjoiM2RjMDYxM2MtMzFjZi00NmY2LTgyNWQtN2EzYzdlYWQwNTdhIiwiYWNjZXNzIjoiRWRpdCIsImlhdCI6MTc2MzYwNzkzMX0.vTU4R7NWgAydxVVWmPGt4HDajxIgNZv8Ce97qsSm19I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3" Type="http://schemas.openxmlformats.org/officeDocument/2006/relationships/image" Target="../media/image15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4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77855" y="2863506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3" y="0"/>
                </a:lnTo>
                <a:lnTo>
                  <a:pt x="10244513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7529579">
            <a:off x="11065259" y="-1712671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3" y="0"/>
                </a:lnTo>
                <a:lnTo>
                  <a:pt x="10244513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987424" y="3830175"/>
            <a:ext cx="9013811" cy="242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1"/>
              </a:lnSpc>
            </a:pPr>
            <a:r>
              <a:rPr lang="en-US" sz="45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CajaSimple: donde tu negocio fluye.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3810" y="990600"/>
            <a:ext cx="3660380" cy="36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XZ Company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29075" y="8673792"/>
            <a:ext cx="5029850" cy="36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CAPSTONE_005D, Cindy Contador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18169" y="6085434"/>
            <a:ext cx="1516761" cy="28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4"/>
              </a:lnSpc>
              <a:spcBef>
                <a:spcPct val="0"/>
              </a:spcBef>
            </a:pPr>
            <a:r>
              <a:rPr lang="en-US" sz="1531" b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(V1.0 Beta)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6346168"/>
            <a:ext cx="4536204" cy="264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5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Cliente: Almacén Mami Sonia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29075" y="9057221"/>
            <a:ext cx="5029850" cy="36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Presentación Final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750360" y="8874871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0409" y="5143500"/>
            <a:ext cx="10601268" cy="8056964"/>
          </a:xfrm>
          <a:custGeom>
            <a:avLst/>
            <a:gdLst/>
            <a:ahLst/>
            <a:cxnLst/>
            <a:rect l="l" t="t" r="r" b="b"/>
            <a:pathLst>
              <a:path w="10601268" h="8056964">
                <a:moveTo>
                  <a:pt x="0" y="0"/>
                </a:moveTo>
                <a:lnTo>
                  <a:pt x="10601268" y="0"/>
                </a:lnTo>
                <a:lnTo>
                  <a:pt x="10601268" y="8056964"/>
                </a:lnTo>
                <a:lnTo>
                  <a:pt x="0" y="80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1875112" y="8753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490849"/>
            <a:ext cx="10117180" cy="145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40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Integrantes del equipo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9317" y="2964635"/>
            <a:ext cx="8455442" cy="398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256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Benjamín Quintanilla - Product Owner/Project Manager</a:t>
            </a:r>
          </a:p>
          <a:p>
            <a:pPr algn="l">
              <a:lnSpc>
                <a:spcPts val="4559"/>
              </a:lnSpc>
            </a:pPr>
            <a:endParaRPr lang="en-US" sz="3256">
              <a:solidFill>
                <a:srgbClr val="6651B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59"/>
              </a:lnSpc>
            </a:pPr>
            <a:r>
              <a:rPr lang="en-US" sz="3256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Alexis Flores - Desarrollador/QA Leads</a:t>
            </a:r>
          </a:p>
          <a:p>
            <a:pPr algn="l">
              <a:lnSpc>
                <a:spcPts val="4559"/>
              </a:lnSpc>
            </a:pPr>
            <a:endParaRPr lang="en-US" sz="3256">
              <a:solidFill>
                <a:srgbClr val="6651B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59"/>
              </a:lnSpc>
            </a:pPr>
            <a:r>
              <a:rPr lang="en-US" sz="3256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Cristopher Montenegro - Desarrollador/QA Leads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48382" y="3962753"/>
            <a:ext cx="11014503" cy="7509888"/>
          </a:xfrm>
          <a:custGeom>
            <a:avLst/>
            <a:gdLst/>
            <a:ahLst/>
            <a:cxnLst/>
            <a:rect l="l" t="t" r="r" b="b"/>
            <a:pathLst>
              <a:path w="11014503" h="7509888">
                <a:moveTo>
                  <a:pt x="0" y="0"/>
                </a:moveTo>
                <a:lnTo>
                  <a:pt x="11014503" y="0"/>
                </a:lnTo>
                <a:lnTo>
                  <a:pt x="11014503" y="7509888"/>
                </a:lnTo>
                <a:lnTo>
                  <a:pt x="0" y="7509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226186" y="-3286246"/>
            <a:ext cx="13075421" cy="9533171"/>
          </a:xfrm>
          <a:custGeom>
            <a:avLst/>
            <a:gdLst/>
            <a:ahLst/>
            <a:cxnLst/>
            <a:rect l="l" t="t" r="r" b="b"/>
            <a:pathLst>
              <a:path w="13075421" h="9533171">
                <a:moveTo>
                  <a:pt x="0" y="0"/>
                </a:moveTo>
                <a:lnTo>
                  <a:pt x="13075421" y="0"/>
                </a:lnTo>
                <a:lnTo>
                  <a:pt x="13075421" y="9533171"/>
                </a:lnTo>
                <a:lnTo>
                  <a:pt x="0" y="9533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914400"/>
            <a:ext cx="9375155" cy="733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06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dolor De Cliente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91103" y="3276817"/>
            <a:ext cx="6705793" cy="481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924" lvl="1" indent="-244462" algn="l">
              <a:lnSpc>
                <a:spcPts val="3170"/>
              </a:lnSpc>
              <a:buFont typeface="Arial"/>
              <a:buChar char="•"/>
            </a:pPr>
            <a:r>
              <a:rPr lang="en-US" sz="2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Faltantes y sobrestock por control manual.</a:t>
            </a:r>
          </a:p>
          <a:p>
            <a:pPr algn="l">
              <a:lnSpc>
                <a:spcPts val="3170"/>
              </a:lnSpc>
            </a:pPr>
            <a:endParaRPr lang="en-US" sz="22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924" lvl="1" indent="-244462" algn="l">
              <a:lnSpc>
                <a:spcPts val="3170"/>
              </a:lnSpc>
              <a:buFont typeface="Arial"/>
              <a:buChar char="•"/>
            </a:pPr>
            <a:r>
              <a:rPr lang="en-US" sz="2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Boletas/tickets sin trazabilidad ni KPIs.</a:t>
            </a:r>
          </a:p>
          <a:p>
            <a:pPr algn="l">
              <a:lnSpc>
                <a:spcPts val="3170"/>
              </a:lnSpc>
            </a:pPr>
            <a:endParaRPr lang="en-US" sz="22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924" lvl="1" indent="-244462" algn="l">
              <a:lnSpc>
                <a:spcPts val="3170"/>
              </a:lnSpc>
              <a:buFont typeface="Arial"/>
              <a:buChar char="•"/>
            </a:pPr>
            <a:r>
              <a:rPr lang="en-US" sz="2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Cierre de caja con errores y demoras.</a:t>
            </a:r>
          </a:p>
          <a:p>
            <a:pPr algn="l">
              <a:lnSpc>
                <a:spcPts val="3170"/>
              </a:lnSpc>
            </a:pPr>
            <a:endParaRPr lang="en-US" sz="22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924" lvl="1" indent="-244462" algn="l">
              <a:lnSpc>
                <a:spcPts val="3170"/>
              </a:lnSpc>
              <a:buFont typeface="Arial"/>
              <a:buChar char="•"/>
            </a:pPr>
            <a:r>
              <a:rPr lang="en-US" sz="2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Reposición “a ojo”, sin recomendaciones.</a:t>
            </a:r>
          </a:p>
          <a:p>
            <a:pPr algn="l">
              <a:lnSpc>
                <a:spcPts val="3170"/>
              </a:lnSpc>
            </a:pPr>
            <a:endParaRPr lang="en-US" sz="22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924" lvl="1" indent="-244462" algn="l">
              <a:lnSpc>
                <a:spcPts val="3170"/>
              </a:lnSpc>
              <a:buFont typeface="Arial"/>
              <a:buChar char="•"/>
            </a:pPr>
            <a:r>
              <a:rPr lang="en-US" sz="2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Riesgo fiscal/operativo por inconsistencia de registros.</a:t>
            </a:r>
          </a:p>
          <a:p>
            <a:pPr algn="l">
              <a:lnSpc>
                <a:spcPts val="3170"/>
              </a:lnSpc>
            </a:pPr>
            <a:endParaRPr lang="en-US" sz="22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48382" y="3962753"/>
            <a:ext cx="11014503" cy="7509888"/>
          </a:xfrm>
          <a:custGeom>
            <a:avLst/>
            <a:gdLst/>
            <a:ahLst/>
            <a:cxnLst/>
            <a:rect l="l" t="t" r="r" b="b"/>
            <a:pathLst>
              <a:path w="11014503" h="7509888">
                <a:moveTo>
                  <a:pt x="0" y="0"/>
                </a:moveTo>
                <a:lnTo>
                  <a:pt x="11014503" y="0"/>
                </a:lnTo>
                <a:lnTo>
                  <a:pt x="11014503" y="7509888"/>
                </a:lnTo>
                <a:lnTo>
                  <a:pt x="0" y="7509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64388" y="-3286246"/>
            <a:ext cx="13075421" cy="9533171"/>
          </a:xfrm>
          <a:custGeom>
            <a:avLst/>
            <a:gdLst/>
            <a:ahLst/>
            <a:cxnLst/>
            <a:rect l="l" t="t" r="r" b="b"/>
            <a:pathLst>
              <a:path w="13075421" h="9533171">
                <a:moveTo>
                  <a:pt x="0" y="0"/>
                </a:moveTo>
                <a:lnTo>
                  <a:pt x="13075421" y="0"/>
                </a:lnTo>
                <a:lnTo>
                  <a:pt x="13075421" y="9533171"/>
                </a:lnTo>
                <a:lnTo>
                  <a:pt x="0" y="9533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549887"/>
            <a:ext cx="10473363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Propuesta de valor Cajasimple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86849" y="3333040"/>
            <a:ext cx="7856811" cy="478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308" lvl="1" indent="-244154" algn="l">
              <a:lnSpc>
                <a:spcPts val="3166"/>
              </a:lnSpc>
              <a:buFont typeface="Arial"/>
              <a:buChar char="•"/>
            </a:pPr>
            <a:r>
              <a:rPr lang="en-US" sz="22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Venta rápida (ticket/boleta) y rebaja automática de stock.</a:t>
            </a:r>
          </a:p>
          <a:p>
            <a:pPr algn="l">
              <a:lnSpc>
                <a:spcPts val="3166"/>
              </a:lnSpc>
            </a:pPr>
            <a:endParaRPr lang="en-US" sz="226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308" lvl="1" indent="-244154" algn="l">
              <a:lnSpc>
                <a:spcPts val="3166"/>
              </a:lnSpc>
              <a:buFont typeface="Arial"/>
              <a:buChar char="•"/>
            </a:pPr>
            <a:r>
              <a:rPr lang="en-US" sz="22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Alertas por mínimos/máximos y sobre/falta de stock.</a:t>
            </a:r>
          </a:p>
          <a:p>
            <a:pPr algn="l">
              <a:lnSpc>
                <a:spcPts val="3166"/>
              </a:lnSpc>
            </a:pPr>
            <a:endParaRPr lang="en-US" sz="226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308" lvl="1" indent="-244154" algn="l">
              <a:lnSpc>
                <a:spcPts val="3166"/>
              </a:lnSpc>
              <a:buFont typeface="Arial"/>
              <a:buChar char="•"/>
            </a:pPr>
            <a:r>
              <a:rPr lang="en-US" sz="22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Precios sugeridos y surtido recomendado.</a:t>
            </a:r>
          </a:p>
          <a:p>
            <a:pPr algn="l">
              <a:lnSpc>
                <a:spcPts val="3166"/>
              </a:lnSpc>
            </a:pPr>
            <a:endParaRPr lang="en-US" sz="226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308" lvl="1" indent="-244154" algn="l">
              <a:lnSpc>
                <a:spcPts val="3166"/>
              </a:lnSpc>
              <a:buFont typeface="Arial"/>
              <a:buChar char="•"/>
            </a:pPr>
            <a:r>
              <a:rPr lang="en-US" sz="22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Soporte y kit de hardware “plug &amp; play”.</a:t>
            </a:r>
          </a:p>
          <a:p>
            <a:pPr algn="l">
              <a:lnSpc>
                <a:spcPts val="3166"/>
              </a:lnSpc>
            </a:pPr>
            <a:endParaRPr lang="en-US" sz="226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88308" lvl="1" indent="-244154" algn="l">
              <a:lnSpc>
                <a:spcPts val="3166"/>
              </a:lnSpc>
              <a:buFont typeface="Arial"/>
              <a:buChar char="•"/>
            </a:pPr>
            <a:r>
              <a:rPr lang="en-US" sz="22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Onboarding y migración guiada.</a:t>
            </a:r>
          </a:p>
          <a:p>
            <a:pPr algn="l">
              <a:lnSpc>
                <a:spcPts val="3166"/>
              </a:lnSpc>
            </a:pPr>
            <a:endParaRPr lang="en-US" sz="226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1882" y="4248900"/>
            <a:ext cx="12200905" cy="7520194"/>
          </a:xfrm>
          <a:custGeom>
            <a:avLst/>
            <a:gdLst/>
            <a:ahLst/>
            <a:cxnLst/>
            <a:rect l="l" t="t" r="r" b="b"/>
            <a:pathLst>
              <a:path w="12200905" h="7520194">
                <a:moveTo>
                  <a:pt x="0" y="0"/>
                </a:moveTo>
                <a:lnTo>
                  <a:pt x="12200905" y="0"/>
                </a:lnTo>
                <a:lnTo>
                  <a:pt x="12200905" y="7520194"/>
                </a:lnTo>
                <a:lnTo>
                  <a:pt x="0" y="752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04508" y="-2416393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3" y="0"/>
                </a:lnTo>
                <a:lnTo>
                  <a:pt x="10244513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876300"/>
            <a:ext cx="9454236" cy="8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Objetivo general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5963" y="1881533"/>
            <a:ext cx="7998037" cy="96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Implementar un POS “CajaSimple para PyMEs que agilice ventas y gestione inventario en tiempo real, con base de datos central y preparación para IA y SII.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61719" y="4378191"/>
            <a:ext cx="9454236" cy="6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0"/>
              </a:lnSpc>
            </a:pPr>
            <a:r>
              <a:rPr lang="en-US" sz="33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Objetivos específicos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266520"/>
            <a:ext cx="7998037" cy="355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Registrar ventas y pagos con ticket/boleta e historia de operaciones.</a:t>
            </a: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Mantener existencias por tienda con alertas de bajo/sobre stock.</a:t>
            </a: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Facilitar apertura/cierre de caja y conciliación diaria.</a:t>
            </a: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Proveer reportes básicos (ventas, top productos, ajustes).</a:t>
            </a: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26963" y="7633245"/>
            <a:ext cx="15319593" cy="11169376"/>
          </a:xfrm>
          <a:custGeom>
            <a:avLst/>
            <a:gdLst/>
            <a:ahLst/>
            <a:cxnLst/>
            <a:rect l="l" t="t" r="r" b="b"/>
            <a:pathLst>
              <a:path w="15319593" h="11169376">
                <a:moveTo>
                  <a:pt x="0" y="0"/>
                </a:moveTo>
                <a:lnTo>
                  <a:pt x="15319593" y="0"/>
                </a:lnTo>
                <a:lnTo>
                  <a:pt x="15319593" y="11169376"/>
                </a:lnTo>
                <a:lnTo>
                  <a:pt x="0" y="1116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5565824" y="-7566535"/>
            <a:ext cx="15319593" cy="11169376"/>
          </a:xfrm>
          <a:custGeom>
            <a:avLst/>
            <a:gdLst/>
            <a:ahLst/>
            <a:cxnLst/>
            <a:rect l="l" t="t" r="r" b="b"/>
            <a:pathLst>
              <a:path w="15319593" h="11169376">
                <a:moveTo>
                  <a:pt x="0" y="0"/>
                </a:moveTo>
                <a:lnTo>
                  <a:pt x="15319593" y="0"/>
                </a:lnTo>
                <a:lnTo>
                  <a:pt x="15319593" y="11169376"/>
                </a:lnTo>
                <a:lnTo>
                  <a:pt x="0" y="1116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9407227" y="506773"/>
            <a:ext cx="8086540" cy="205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70"/>
              </a:lnSpc>
            </a:pPr>
            <a:r>
              <a:rPr lang="en-US" sz="38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Alcances y limitaciones del proyecto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713" y="3733125"/>
            <a:ext cx="6724888" cy="233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endParaRPr/>
          </a:p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6651B4"/>
                </a:solidFill>
                <a:latin typeface="Horizon"/>
                <a:ea typeface="Horizon"/>
                <a:cs typeface="Horizon"/>
                <a:sym typeface="Horizon"/>
              </a:rPr>
              <a:t>Alojamiento del sistema</a:t>
            </a:r>
          </a:p>
          <a:p>
            <a:pPr algn="l">
              <a:lnSpc>
                <a:spcPts val="3024"/>
              </a:lnSpc>
            </a:pPr>
            <a:endParaRPr lang="en-US" sz="2160">
              <a:solidFill>
                <a:srgbClr val="6651B4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6651B4"/>
                </a:solidFill>
                <a:latin typeface="Horizon"/>
                <a:ea typeface="Horizon"/>
                <a:cs typeface="Horizon"/>
                <a:sym typeface="Horizon"/>
              </a:rPr>
              <a:t>Transferencias intertienda </a:t>
            </a:r>
          </a:p>
          <a:p>
            <a:pPr algn="l">
              <a:lnSpc>
                <a:spcPts val="3024"/>
              </a:lnSpc>
            </a:pPr>
            <a:endParaRPr lang="en-US" sz="2160">
              <a:solidFill>
                <a:srgbClr val="6651B4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60700" y="5320686"/>
            <a:ext cx="8379593" cy="341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Módulos: Caja, Ventas, Inventario básico, Reportes base.</a:t>
            </a:r>
          </a:p>
          <a:p>
            <a:pPr algn="l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Alertas de stock (mín/máx) y trazabilidad de movimientos.</a:t>
            </a:r>
          </a:p>
          <a:p>
            <a:pPr algn="l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Idempotencia de ventas para evitar duplicados por fallos de red.</a:t>
            </a:r>
          </a:p>
          <a:p>
            <a:pPr algn="l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07227" y="4516548"/>
            <a:ext cx="5889018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alcance - (R3-R4)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8531" y="2939408"/>
            <a:ext cx="342860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6651B4"/>
                </a:solidFill>
                <a:latin typeface="Horizon"/>
                <a:ea typeface="Horizon"/>
                <a:cs typeface="Horizon"/>
                <a:sym typeface="Horizon"/>
              </a:rPr>
              <a:t>Limitaciones</a:t>
            </a:r>
          </a:p>
        </p:txBody>
      </p:sp>
      <p:sp>
        <p:nvSpPr>
          <p:cNvPr id="9" name="Freeform 9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757773" y="876300"/>
            <a:ext cx="8772454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Metodología de trabajo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30124" y="3542401"/>
            <a:ext cx="6685700" cy="500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169" lvl="1" indent="-257585" algn="l">
              <a:lnSpc>
                <a:spcPts val="3340"/>
              </a:lnSpc>
              <a:buFont typeface="Arial"/>
              <a:buChar char="•"/>
            </a:pPr>
            <a:r>
              <a:rPr lang="en-US" sz="23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Enfoque ágil Scrum: sprints cortos, backlog priorizado.</a:t>
            </a:r>
          </a:p>
          <a:p>
            <a:pPr algn="l">
              <a:lnSpc>
                <a:spcPts val="3340"/>
              </a:lnSpc>
            </a:pPr>
            <a:endParaRPr lang="en-US" sz="23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5169" lvl="1" indent="-257585" algn="l">
              <a:lnSpc>
                <a:spcPts val="3340"/>
              </a:lnSpc>
              <a:buFont typeface="Arial"/>
              <a:buChar char="•"/>
            </a:pPr>
            <a:r>
              <a:rPr lang="en-US" sz="23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Artefactos: roadmap, HU con criterios de aceptación, plan de pruebas, UAT.</a:t>
            </a:r>
          </a:p>
          <a:p>
            <a:pPr algn="l">
              <a:lnSpc>
                <a:spcPts val="3340"/>
              </a:lnSpc>
            </a:pPr>
            <a:endParaRPr lang="en-US" sz="23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5169" lvl="1" indent="-257585" algn="l">
              <a:lnSpc>
                <a:spcPts val="3340"/>
              </a:lnSpc>
              <a:buFont typeface="Arial"/>
              <a:buChar char="•"/>
            </a:pPr>
            <a:r>
              <a:rPr lang="en-US" sz="23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Ambientes: Dev → Staging (UAT) → Piloto controlado.</a:t>
            </a:r>
          </a:p>
          <a:p>
            <a:pPr algn="l">
              <a:lnSpc>
                <a:spcPts val="3340"/>
              </a:lnSpc>
            </a:pPr>
            <a:endParaRPr lang="en-US" sz="23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5169" lvl="1" indent="-257585" algn="l">
              <a:lnSpc>
                <a:spcPts val="3340"/>
              </a:lnSpc>
              <a:buFont typeface="Arial"/>
              <a:buChar char="•"/>
            </a:pPr>
            <a:r>
              <a:rPr lang="en-US" sz="23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Entregables: DDL/DBML, FastAPI, runbooks, manual usuario y operación.</a:t>
            </a:r>
          </a:p>
          <a:p>
            <a:pPr algn="l">
              <a:lnSpc>
                <a:spcPts val="3340"/>
              </a:lnSpc>
            </a:pPr>
            <a:endParaRPr lang="en-US" sz="23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6431" y="-1654771"/>
            <a:ext cx="12327597" cy="8987939"/>
          </a:xfrm>
          <a:custGeom>
            <a:avLst/>
            <a:gdLst/>
            <a:ahLst/>
            <a:cxnLst/>
            <a:rect l="l" t="t" r="r" b="b"/>
            <a:pathLst>
              <a:path w="12327597" h="8987939">
                <a:moveTo>
                  <a:pt x="0" y="0"/>
                </a:moveTo>
                <a:lnTo>
                  <a:pt x="12327597" y="0"/>
                </a:lnTo>
                <a:lnTo>
                  <a:pt x="12327597" y="8987938"/>
                </a:lnTo>
                <a:lnTo>
                  <a:pt x="0" y="898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57991" y="2380563"/>
            <a:ext cx="17119216" cy="6058646"/>
          </a:xfrm>
          <a:custGeom>
            <a:avLst/>
            <a:gdLst/>
            <a:ahLst/>
            <a:cxnLst/>
            <a:rect l="l" t="t" r="r" b="b"/>
            <a:pathLst>
              <a:path w="17119216" h="6058646">
                <a:moveTo>
                  <a:pt x="0" y="0"/>
                </a:moveTo>
                <a:lnTo>
                  <a:pt x="17119216" y="0"/>
                </a:lnTo>
                <a:lnTo>
                  <a:pt x="17119216" y="6058645"/>
                </a:lnTo>
                <a:lnTo>
                  <a:pt x="0" y="6058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9" r="-19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757991" y="876300"/>
            <a:ext cx="7044286" cy="8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Cronograma</a:t>
            </a:r>
          </a:p>
        </p:txBody>
      </p:sp>
      <p:sp>
        <p:nvSpPr>
          <p:cNvPr id="5" name="Freeform 5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9458" y="-448410"/>
            <a:ext cx="15041991" cy="11431913"/>
          </a:xfrm>
          <a:custGeom>
            <a:avLst/>
            <a:gdLst/>
            <a:ahLst/>
            <a:cxnLst/>
            <a:rect l="l" t="t" r="r" b="b"/>
            <a:pathLst>
              <a:path w="15041991" h="11431913">
                <a:moveTo>
                  <a:pt x="0" y="0"/>
                </a:moveTo>
                <a:lnTo>
                  <a:pt x="15041991" y="0"/>
                </a:lnTo>
                <a:lnTo>
                  <a:pt x="15041991" y="11431913"/>
                </a:lnTo>
                <a:lnTo>
                  <a:pt x="0" y="1143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50360" y="0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39509" y="351334"/>
            <a:ext cx="8824603" cy="8906966"/>
          </a:xfrm>
          <a:custGeom>
            <a:avLst/>
            <a:gdLst/>
            <a:ahLst/>
            <a:cxnLst/>
            <a:rect l="l" t="t" r="r" b="b"/>
            <a:pathLst>
              <a:path w="8824603" h="8906966">
                <a:moveTo>
                  <a:pt x="0" y="0"/>
                </a:moveTo>
                <a:lnTo>
                  <a:pt x="8824603" y="0"/>
                </a:lnTo>
                <a:lnTo>
                  <a:pt x="8824603" y="8906966"/>
                </a:lnTo>
                <a:lnTo>
                  <a:pt x="0" y="8906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0620672" y="1033260"/>
            <a:ext cx="6931968" cy="242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8"/>
              </a:lnSpc>
            </a:pPr>
            <a:r>
              <a:rPr lang="en-US" sz="453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Arquitectura del software</a:t>
            </a:r>
          </a:p>
          <a:p>
            <a:pPr algn="just">
              <a:lnSpc>
                <a:spcPts val="6348"/>
              </a:lnSpc>
            </a:pPr>
            <a:r>
              <a:rPr lang="en-US" sz="453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En Capas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88638" y="3791089"/>
            <a:ext cx="5364002" cy="5626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Cliente POS (Java/JavaFX): UI, escáner, impresora térmica.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API (FastAPI, Python): lógica de negocio, seguridad (JWT), idempotencia.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BD (PostgreSQL/Oracle): ventas, existencias, precios, auditoría.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Almacenamiento de documentos: tickets PDF, cierres.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Monitoreo y backups: métricas p95/errores, copias y restore probado.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454220" y="9306259"/>
            <a:ext cx="2689780" cy="41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5"/>
              </a:lnSpc>
            </a:pPr>
            <a:r>
              <a:rPr lang="en-US" sz="2232" u="sng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  <a:hlinkClick r:id="rId6" tooltip="https://www.mermaidchart.com/app/projects/fa1dc4cb-7527-4c34-99ab-1dc74a511973/diagrams/e8f5b5ee-da28-4531-854f-f80e28f8930d/share/invite/eyJhbGciOiJIUzI1NiIsInR5cCI6IkpXVCJ9.eyJkb2N1bWVudElEIjoiZThmNWI1ZWUtZGEyOC00NTMxLTg1NGYtZjgwZTI4Zjg5MzBkIiwiYWNjZXNzIjoiRWRpdCIsImlhdCI6MTc2MzYwNzA2MX0.gKAUcKvrmMhLJ3nmEhFaKtzhmq_WekkDj-bktVzlgTs"/>
              </a:rPr>
              <a:t>Diagrama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540365" y="350726"/>
            <a:ext cx="9913434" cy="8985867"/>
          </a:xfrm>
          <a:custGeom>
            <a:avLst/>
            <a:gdLst/>
            <a:ahLst/>
            <a:cxnLst/>
            <a:rect l="l" t="t" r="r" b="b"/>
            <a:pathLst>
              <a:path w="9913434" h="8985867">
                <a:moveTo>
                  <a:pt x="0" y="0"/>
                </a:moveTo>
                <a:lnTo>
                  <a:pt x="9913435" y="0"/>
                </a:lnTo>
                <a:lnTo>
                  <a:pt x="9913435" y="8985867"/>
                </a:lnTo>
                <a:lnTo>
                  <a:pt x="0" y="8985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6" b="-83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1895298" y="669287"/>
            <a:ext cx="5508019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modelo de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73720" y="3344734"/>
            <a:ext cx="5364002" cy="455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Entidades núcleo: tiendas, terminales, usuarios/roles, productos, existencias, ventas, items_venta, pagos, compras, precios.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Claves e integridad: FKs por tienda/producto; índices por búsqueda.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Historial y auditoría: movimientos_existencia, sesiones_caja.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71774" y="9269918"/>
            <a:ext cx="25304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6" tooltip="https://www.mermaidchart.com/app/projects/fa1dc4cb-7527-4c34-99ab-1dc74a511973/diagrams/3dc0613c-31cf-46f6-825d-7a3c7ead057a/share/invite/eyJhbGciOiJIUzI1NiIsInR5cCI6IkpXVCJ9.eyJkb2N1bWVudElEIjoiM2RjMDYxM2MtMzFjZi00NmY2LTgyNWQtN2EzYzdlYWQwNTdhIiwiYWNjZXNzIjoiRWRpdCIsImlhdCI6MTc2MzYwNzkzMX0.vTU4R7NWgAydxVVWmPGt4HDajxIgNZv8Ce97qsSm19I"/>
              </a:rPr>
              <a:t>BD Mermaid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995596" y="1182066"/>
            <a:ext cx="2238353" cy="2263821"/>
          </a:xfrm>
          <a:custGeom>
            <a:avLst/>
            <a:gdLst/>
            <a:ahLst/>
            <a:cxnLst/>
            <a:rect l="l" t="t" r="r" b="b"/>
            <a:pathLst>
              <a:path w="2238353" h="2263821">
                <a:moveTo>
                  <a:pt x="0" y="0"/>
                </a:moveTo>
                <a:lnTo>
                  <a:pt x="2238353" y="0"/>
                </a:lnTo>
                <a:lnTo>
                  <a:pt x="2238353" y="2263821"/>
                </a:lnTo>
                <a:lnTo>
                  <a:pt x="0" y="2263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4306350" y="1335432"/>
            <a:ext cx="1957088" cy="1957088"/>
          </a:xfrm>
          <a:custGeom>
            <a:avLst/>
            <a:gdLst/>
            <a:ahLst/>
            <a:cxnLst/>
            <a:rect l="l" t="t" r="r" b="b"/>
            <a:pathLst>
              <a:path w="1957088" h="1957088">
                <a:moveTo>
                  <a:pt x="0" y="0"/>
                </a:moveTo>
                <a:lnTo>
                  <a:pt x="1957088" y="0"/>
                </a:lnTo>
                <a:lnTo>
                  <a:pt x="1957088" y="1957089"/>
                </a:lnTo>
                <a:lnTo>
                  <a:pt x="0" y="19570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64055" y="4186994"/>
            <a:ext cx="1901436" cy="1901436"/>
          </a:xfrm>
          <a:custGeom>
            <a:avLst/>
            <a:gdLst/>
            <a:ahLst/>
            <a:cxnLst/>
            <a:rect l="l" t="t" r="r" b="b"/>
            <a:pathLst>
              <a:path w="1901436" h="1901436">
                <a:moveTo>
                  <a:pt x="0" y="0"/>
                </a:moveTo>
                <a:lnTo>
                  <a:pt x="1901436" y="0"/>
                </a:lnTo>
                <a:lnTo>
                  <a:pt x="1901436" y="1901436"/>
                </a:lnTo>
                <a:lnTo>
                  <a:pt x="0" y="19014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123288" y="3814585"/>
            <a:ext cx="2323213" cy="2273844"/>
          </a:xfrm>
          <a:custGeom>
            <a:avLst/>
            <a:gdLst/>
            <a:ahLst/>
            <a:cxnLst/>
            <a:rect l="l" t="t" r="r" b="b"/>
            <a:pathLst>
              <a:path w="2323213" h="2273844">
                <a:moveTo>
                  <a:pt x="0" y="0"/>
                </a:moveTo>
                <a:lnTo>
                  <a:pt x="2323212" y="0"/>
                </a:lnTo>
                <a:lnTo>
                  <a:pt x="2323212" y="2273845"/>
                </a:lnTo>
                <a:lnTo>
                  <a:pt x="0" y="2273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056608" y="6773515"/>
            <a:ext cx="2116329" cy="2116329"/>
          </a:xfrm>
          <a:custGeom>
            <a:avLst/>
            <a:gdLst/>
            <a:ahLst/>
            <a:cxnLst/>
            <a:rect l="l" t="t" r="r" b="b"/>
            <a:pathLst>
              <a:path w="2116329" h="2116329">
                <a:moveTo>
                  <a:pt x="0" y="0"/>
                </a:moveTo>
                <a:lnTo>
                  <a:pt x="2116329" y="0"/>
                </a:lnTo>
                <a:lnTo>
                  <a:pt x="2116329" y="2116329"/>
                </a:lnTo>
                <a:lnTo>
                  <a:pt x="0" y="21163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4194881" y="6773515"/>
            <a:ext cx="2180025" cy="2180025"/>
          </a:xfrm>
          <a:custGeom>
            <a:avLst/>
            <a:gdLst/>
            <a:ahLst/>
            <a:cxnLst/>
            <a:rect l="l" t="t" r="r" b="b"/>
            <a:pathLst>
              <a:path w="2180025" h="2180025">
                <a:moveTo>
                  <a:pt x="0" y="0"/>
                </a:moveTo>
                <a:lnTo>
                  <a:pt x="2180025" y="0"/>
                </a:lnTo>
                <a:lnTo>
                  <a:pt x="2180025" y="2180025"/>
                </a:lnTo>
                <a:lnTo>
                  <a:pt x="0" y="2180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7015272" y="4612540"/>
            <a:ext cx="4000385" cy="530960"/>
          </a:xfrm>
          <a:custGeom>
            <a:avLst/>
            <a:gdLst/>
            <a:ahLst/>
            <a:cxnLst/>
            <a:rect l="l" t="t" r="r" b="b"/>
            <a:pathLst>
              <a:path w="4000385" h="530960">
                <a:moveTo>
                  <a:pt x="0" y="0"/>
                </a:moveTo>
                <a:lnTo>
                  <a:pt x="4000385" y="0"/>
                </a:lnTo>
                <a:lnTo>
                  <a:pt x="4000385" y="530960"/>
                </a:lnTo>
                <a:lnTo>
                  <a:pt x="0" y="5309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0270342" y="876300"/>
            <a:ext cx="6988958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Tecnologías utilizadas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95897" y="3624452"/>
            <a:ext cx="5364002" cy="4207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Backend: Python + Java + JavaScript + API + WEB (HTML,CSS)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Base de datos: PostgreSQL, Servidor alojado en Oracle Free Trial.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Cliente: Java/JavaFX; impresoras ESC/POS; lector código barras HID.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Herramientas: GitHub, CI/CD, BPMN (Bizagi), DBML/dbdiagram.</a:t>
            </a:r>
          </a:p>
          <a:p>
            <a:pPr algn="l">
              <a:lnSpc>
                <a:spcPts val="2780"/>
              </a:lnSpc>
            </a:pPr>
            <a:endParaRPr lang="en-US" sz="198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58138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3709625" y="876300"/>
            <a:ext cx="11702483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Demostración</a:t>
            </a:r>
            <a:r>
              <a:rPr lang="en-US" sz="4736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del </a:t>
            </a:r>
            <a:r>
              <a:rPr lang="en-US" sz="4736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sistema</a:t>
            </a:r>
            <a:r>
              <a:rPr lang="en-US" sz="4736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0F64B-57FF-14F1-199C-30A7C5D3CD8F}"/>
              </a:ext>
            </a:extLst>
          </p:cNvPr>
          <p:cNvSpPr txBox="1"/>
          <p:nvPr/>
        </p:nvSpPr>
        <p:spPr>
          <a:xfrm>
            <a:off x="3886200" y="4991100"/>
            <a:ext cx="11702483" cy="155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30"/>
              </a:lnSpc>
            </a:pPr>
            <a:r>
              <a:rPr lang="en-US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https://drive.google.com/drive/folders/1n_rvycbnVtGbaeKHTVM5PbZnozPnuUI9?usp=sharing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2757" y="-254785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7" y="0"/>
                </a:lnTo>
                <a:lnTo>
                  <a:pt x="135355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015520" y="6612863"/>
            <a:ext cx="5129028" cy="3419352"/>
          </a:xfrm>
          <a:custGeom>
            <a:avLst/>
            <a:gdLst/>
            <a:ahLst/>
            <a:cxnLst/>
            <a:rect l="l" t="t" r="r" b="b"/>
            <a:pathLst>
              <a:path w="5129028" h="3419352">
                <a:moveTo>
                  <a:pt x="0" y="0"/>
                </a:moveTo>
                <a:lnTo>
                  <a:pt x="5129028" y="0"/>
                </a:lnTo>
                <a:lnTo>
                  <a:pt x="5129028" y="3419352"/>
                </a:lnTo>
                <a:lnTo>
                  <a:pt x="0" y="3419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039661" y="621515"/>
            <a:ext cx="6208678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Resultados obtenidos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4542" y="3044384"/>
            <a:ext cx="11258915" cy="41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830" lvl="1" indent="-254415" algn="l">
              <a:lnSpc>
                <a:spcPts val="3299"/>
              </a:lnSpc>
              <a:buFont typeface="Arial"/>
              <a:buChar char="•"/>
            </a:pPr>
            <a:r>
              <a:rPr lang="en-US" sz="23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Funcionalidad operativa: ventas/caja/inventario/reportes.</a:t>
            </a:r>
          </a:p>
          <a:p>
            <a:pPr algn="l">
              <a:lnSpc>
                <a:spcPts val="3299"/>
              </a:lnSpc>
            </a:pPr>
            <a:endParaRPr lang="en-US" sz="235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08830" lvl="1" indent="-254415" algn="l">
              <a:lnSpc>
                <a:spcPts val="3299"/>
              </a:lnSpc>
              <a:buFont typeface="Arial"/>
              <a:buChar char="•"/>
            </a:pPr>
            <a:r>
              <a:rPr lang="en-US" sz="23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Estabilidad en piloto; 70–80% avance del alcance total planificado.</a:t>
            </a:r>
          </a:p>
          <a:p>
            <a:pPr algn="l">
              <a:lnSpc>
                <a:spcPts val="3299"/>
              </a:lnSpc>
            </a:pPr>
            <a:endParaRPr lang="en-US" sz="235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08830" lvl="1" indent="-254415" algn="l">
              <a:lnSpc>
                <a:spcPts val="3299"/>
              </a:lnSpc>
              <a:buFont typeface="Arial"/>
              <a:buChar char="•"/>
            </a:pPr>
            <a:r>
              <a:rPr lang="en-US" sz="23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Métricas ejemplo: p95 checkout cercano al objetivo; errores &lt; 1% en piloto.</a:t>
            </a:r>
          </a:p>
          <a:p>
            <a:pPr algn="l">
              <a:lnSpc>
                <a:spcPts val="3299"/>
              </a:lnSpc>
            </a:pPr>
            <a:endParaRPr lang="en-US" sz="235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08830" lvl="1" indent="-254415" algn="l">
              <a:lnSpc>
                <a:spcPts val="3299"/>
              </a:lnSpc>
              <a:buFont typeface="Arial"/>
              <a:buChar char="•"/>
            </a:pPr>
            <a:r>
              <a:rPr lang="en-US" sz="23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Evidencias: casos UAT aprobados con observaciones; runbooks de despliegue/rollback.</a:t>
            </a:r>
          </a:p>
          <a:p>
            <a:pPr algn="l">
              <a:lnSpc>
                <a:spcPts val="3299"/>
              </a:lnSpc>
            </a:pPr>
            <a:endParaRPr lang="en-US" sz="235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750360" y="0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489412" y="1099237"/>
            <a:ext cx="9632354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Obstáculos y aprendizajes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93395" y="3824976"/>
            <a:ext cx="12301211" cy="33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691" lvl="1" indent="-256845" algn="just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Transferencias intertienda: recepción/kardex pendiente (riesgo de integridad).</a:t>
            </a:r>
          </a:p>
          <a:p>
            <a:pPr algn="just">
              <a:lnSpc>
                <a:spcPts val="3331"/>
              </a:lnSpc>
            </a:pPr>
            <a:endParaRPr lang="en-US" sz="237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3691" lvl="1" indent="-256845" algn="just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Rendimiento en alto estrés: requiere cache de precios e índices adicionales.</a:t>
            </a:r>
          </a:p>
          <a:p>
            <a:pPr algn="just">
              <a:lnSpc>
                <a:spcPts val="3331"/>
              </a:lnSpc>
            </a:pPr>
            <a:endParaRPr lang="en-US" sz="237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3691" lvl="1" indent="-256845" algn="just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Periféricos heterogéneos: estandarizar perfiles de impresión y pruebas.</a:t>
            </a:r>
          </a:p>
          <a:p>
            <a:pPr algn="l">
              <a:lnSpc>
                <a:spcPts val="3331"/>
              </a:lnSpc>
            </a:pPr>
            <a:endParaRPr lang="en-US" sz="237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318077" y="2573924"/>
            <a:ext cx="4269128" cy="5139152"/>
          </a:xfrm>
          <a:custGeom>
            <a:avLst/>
            <a:gdLst/>
            <a:ahLst/>
            <a:cxnLst/>
            <a:rect l="l" t="t" r="r" b="b"/>
            <a:pathLst>
              <a:path w="4269128" h="5139152">
                <a:moveTo>
                  <a:pt x="0" y="0"/>
                </a:moveTo>
                <a:lnTo>
                  <a:pt x="4269128" y="0"/>
                </a:lnTo>
                <a:lnTo>
                  <a:pt x="4269128" y="5139152"/>
                </a:lnTo>
                <a:lnTo>
                  <a:pt x="0" y="5139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284" r="-4028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489412" y="876300"/>
            <a:ext cx="8390276" cy="8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Próximos pasos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9412" y="2631603"/>
            <a:ext cx="8193470" cy="584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006" lvl="1" indent="-327503" algn="l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R5: IA básica (precios/surtido), transferencias completas, dashboards.</a:t>
            </a:r>
          </a:p>
          <a:p>
            <a:pPr marL="655006" lvl="1" indent="-327503" algn="l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Mejoras de performance: cache por tienda, ajuste de índices.</a:t>
            </a:r>
          </a:p>
          <a:p>
            <a:pPr marL="655006" lvl="1" indent="-327503" algn="l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Operación: observabilidad completa y pruebas de backup/restore regulares.</a:t>
            </a:r>
          </a:p>
          <a:p>
            <a:pPr marL="655006" lvl="1" indent="-327503" algn="l">
              <a:lnSpc>
                <a:spcPts val="4247"/>
              </a:lnSpc>
              <a:buFont typeface="Arial"/>
              <a:buChar char="•"/>
            </a:pPr>
            <a:r>
              <a:rPr lang="en-US" sz="30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Escalamiento controlado: ampliar piloto a más tiendas/terminales.</a:t>
            </a:r>
          </a:p>
          <a:p>
            <a:pPr algn="l">
              <a:lnSpc>
                <a:spcPts val="4247"/>
              </a:lnSpc>
            </a:pPr>
            <a:endParaRPr lang="en-US" sz="303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750360" y="8899902"/>
            <a:ext cx="5537640" cy="1387098"/>
          </a:xfrm>
          <a:custGeom>
            <a:avLst/>
            <a:gdLst/>
            <a:ahLst/>
            <a:cxnLst/>
            <a:rect l="l" t="t" r="r" b="b"/>
            <a:pathLst>
              <a:path w="5537640" h="1387098">
                <a:moveTo>
                  <a:pt x="0" y="0"/>
                </a:moveTo>
                <a:lnTo>
                  <a:pt x="5537640" y="0"/>
                </a:lnTo>
                <a:lnTo>
                  <a:pt x="5537640" y="1387098"/>
                </a:lnTo>
                <a:lnTo>
                  <a:pt x="0" y="138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611489">
            <a:off x="4781950" y="2435814"/>
            <a:ext cx="8548653" cy="6496977"/>
          </a:xfrm>
          <a:custGeom>
            <a:avLst/>
            <a:gdLst/>
            <a:ahLst/>
            <a:cxnLst/>
            <a:rect l="l" t="t" r="r" b="b"/>
            <a:pathLst>
              <a:path w="8548653" h="6496977">
                <a:moveTo>
                  <a:pt x="0" y="0"/>
                </a:moveTo>
                <a:lnTo>
                  <a:pt x="8548653" y="0"/>
                </a:lnTo>
                <a:lnTo>
                  <a:pt x="8548653" y="6496977"/>
                </a:lnTo>
                <a:lnTo>
                  <a:pt x="0" y="6496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5921659" y="220643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654193" y="1365698"/>
            <a:ext cx="8804167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Gracias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3810" y="762810"/>
            <a:ext cx="3660380" cy="4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XZ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Personalizado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Open Sans</vt:lpstr>
      <vt:lpstr>Calibri</vt:lpstr>
      <vt:lpstr>Arial</vt:lpstr>
      <vt:lpstr>Garet</vt:lpstr>
      <vt:lpstr>Horizon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startup moderno en blanco negro y azul</dc:title>
  <cp:lastModifiedBy>Alexis Flores</cp:lastModifiedBy>
  <cp:revision>2</cp:revision>
  <dcterms:created xsi:type="dcterms:W3CDTF">2006-08-16T00:00:00Z</dcterms:created>
  <dcterms:modified xsi:type="dcterms:W3CDTF">2025-12-02T06:43:19Z</dcterms:modified>
  <dc:identifier>DAG5EnH0E60</dc:identifier>
</cp:coreProperties>
</file>